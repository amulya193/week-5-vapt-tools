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5" r:id="rId6"/>
    <p:sldId id="260" r:id="rId7"/>
    <p:sldId id="261" r:id="rId8"/>
    <p:sldId id="262" r:id="rId9"/>
    <p:sldId id="263" r:id="rId10"/>
  </p:sldIdLst>
  <p:sldSz cx="18288000" cy="10287000"/>
  <p:notesSz cx="6858000" cy="9144000"/>
  <p:embeddedFontLst>
    <p:embeddedFont>
      <p:font typeface="Canva Sans" panose="020B0604020202020204" charset="0"/>
      <p:regular r:id="rId11"/>
    </p:embeddedFont>
    <p:embeddedFont>
      <p:font typeface="Canva Sans Bold" panose="020B0604020202020204" charset="0"/>
      <p:regular r:id="rId12"/>
    </p:embeddedFont>
    <p:embeddedFont>
      <p:font typeface="TT Supermolot Neue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3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31A47">
                <a:alpha val="56863"/>
              </a:srgbClr>
            </a:soli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739405" y="1028700"/>
            <a:ext cx="2244926" cy="1911100"/>
          </a:xfrm>
          <a:custGeom>
            <a:avLst/>
            <a:gdLst/>
            <a:ahLst/>
            <a:cxnLst/>
            <a:rect l="l" t="t" r="r" b="b"/>
            <a:pathLst>
              <a:path w="2244926" h="1911100">
                <a:moveTo>
                  <a:pt x="0" y="0"/>
                </a:moveTo>
                <a:lnTo>
                  <a:pt x="2244927" y="0"/>
                </a:lnTo>
                <a:lnTo>
                  <a:pt x="2244927" y="1911100"/>
                </a:lnTo>
                <a:lnTo>
                  <a:pt x="0" y="19111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2471797" y="838200"/>
            <a:ext cx="14970394" cy="1712401"/>
          </a:xfrm>
          <a:prstGeom prst="rect">
            <a:avLst/>
          </a:prstGeom>
        </p:spPr>
        <p:txBody>
          <a:bodyPr lIns="0" tIns="0" rIns="0" bIns="0" rtlCol="0" anchor="t">
            <a:spAutoFit/>
          </a:bodyPr>
          <a:lstStyle/>
          <a:p>
            <a:pPr algn="ctr">
              <a:lnSpc>
                <a:spcPts val="14013"/>
              </a:lnSpc>
            </a:pPr>
            <a:r>
              <a:rPr lang="en-US" sz="10009" b="1">
                <a:solidFill>
                  <a:srgbClr val="FFFFFF"/>
                </a:solidFill>
                <a:latin typeface="TT Supermolot Neue Bold"/>
                <a:ea typeface="TT Supermolot Neue Bold"/>
                <a:cs typeface="TT Supermolot Neue Bold"/>
                <a:sym typeface="TT Supermolot Neue Bold"/>
              </a:rPr>
              <a:t>TASK - 5 VAPT TOOLS </a:t>
            </a:r>
          </a:p>
        </p:txBody>
      </p:sp>
      <p:sp>
        <p:nvSpPr>
          <p:cNvPr id="9" name="TextBox 9"/>
          <p:cNvSpPr txBox="1"/>
          <p:nvPr/>
        </p:nvSpPr>
        <p:spPr>
          <a:xfrm>
            <a:off x="4853425" y="2448628"/>
            <a:ext cx="7277814"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PRACTICAL LEARNING</a:t>
            </a:r>
          </a:p>
        </p:txBody>
      </p:sp>
      <p:sp>
        <p:nvSpPr>
          <p:cNvPr id="10" name="TextBox 10"/>
          <p:cNvSpPr txBox="1"/>
          <p:nvPr/>
        </p:nvSpPr>
        <p:spPr>
          <a:xfrm>
            <a:off x="739405" y="7750734"/>
            <a:ext cx="7068264" cy="1180465"/>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NAME : B SAI AMULYA GOUD </a:t>
            </a:r>
          </a:p>
          <a:p>
            <a:pPr algn="ctr">
              <a:lnSpc>
                <a:spcPts val="4759"/>
              </a:lnSpc>
            </a:pPr>
            <a:r>
              <a:rPr lang="en-US" sz="3399" b="1">
                <a:solidFill>
                  <a:srgbClr val="FFFFFF"/>
                </a:solidFill>
                <a:latin typeface="Canva Sans Bold"/>
                <a:ea typeface="Canva Sans Bold"/>
                <a:cs typeface="Canva Sans Bold"/>
                <a:sym typeface="Canva Sans Bold"/>
              </a:rPr>
              <a:t>SIN :  DG/SEPTEMBER/CYBER/179</a:t>
            </a:r>
          </a:p>
        </p:txBody>
      </p:sp>
      <p:sp>
        <p:nvSpPr>
          <p:cNvPr id="11" name="TextBox 11"/>
          <p:cNvSpPr txBox="1"/>
          <p:nvPr/>
        </p:nvSpPr>
        <p:spPr>
          <a:xfrm>
            <a:off x="2471797" y="4819967"/>
            <a:ext cx="13344406" cy="1180465"/>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Vulnerability Assessment and Penetration Testing — Authorized</a:t>
            </a:r>
          </a:p>
          <a:p>
            <a:pPr algn="ctr">
              <a:lnSpc>
                <a:spcPts val="4759"/>
              </a:lnSpc>
            </a:pPr>
            <a:r>
              <a:rPr lang="en-US" sz="3399" b="1">
                <a:solidFill>
                  <a:srgbClr val="FFFFFF"/>
                </a:solidFill>
                <a:latin typeface="Canva Sans Bold"/>
                <a:ea typeface="Canva Sans Bold"/>
                <a:cs typeface="Canva Sans Bold"/>
                <a:sym typeface="Canva Sans Bold"/>
              </a:rPr>
              <a:t> Local Lab Practical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1633"/>
        </a:solidFill>
        <a:effectLst/>
      </p:bgPr>
    </p:bg>
    <p:spTree>
      <p:nvGrpSpPr>
        <p:cNvPr id="1" name=""/>
        <p:cNvGrpSpPr/>
        <p:nvPr/>
      </p:nvGrpSpPr>
      <p:grpSpPr>
        <a:xfrm>
          <a:off x="0" y="0"/>
          <a:ext cx="0" cy="0"/>
          <a:chOff x="0" y="0"/>
          <a:chExt cx="0" cy="0"/>
        </a:xfrm>
      </p:grpSpPr>
      <p:grpSp>
        <p:nvGrpSpPr>
          <p:cNvPr id="2" name="Group 2"/>
          <p:cNvGrpSpPr/>
          <p:nvPr/>
        </p:nvGrpSpPr>
        <p:grpSpPr>
          <a:xfrm>
            <a:off x="0" y="5633438"/>
            <a:ext cx="18288000" cy="251070"/>
            <a:chOff x="0" y="0"/>
            <a:chExt cx="4816593" cy="66125"/>
          </a:xfrm>
        </p:grpSpPr>
        <p:sp>
          <p:nvSpPr>
            <p:cNvPr id="3" name="Freeform 3"/>
            <p:cNvSpPr/>
            <p:nvPr/>
          </p:nvSpPr>
          <p:spPr>
            <a:xfrm>
              <a:off x="0" y="0"/>
              <a:ext cx="4816592" cy="66125"/>
            </a:xfrm>
            <a:custGeom>
              <a:avLst/>
              <a:gdLst/>
              <a:ahLst/>
              <a:cxnLst/>
              <a:rect l="l" t="t" r="r" b="b"/>
              <a:pathLst>
                <a:path w="4816592" h="66125">
                  <a:moveTo>
                    <a:pt x="0" y="0"/>
                  </a:moveTo>
                  <a:lnTo>
                    <a:pt x="4816592" y="0"/>
                  </a:lnTo>
                  <a:lnTo>
                    <a:pt x="4816592" y="66125"/>
                  </a:lnTo>
                  <a:lnTo>
                    <a:pt x="0" y="66125"/>
                  </a:lnTo>
                  <a:close/>
                </a:path>
              </a:pathLst>
            </a:custGeom>
            <a:gradFill rotWithShape="1">
              <a:gsLst>
                <a:gs pos="0">
                  <a:srgbClr val="00B2FF">
                    <a:alpha val="100000"/>
                  </a:srgbClr>
                </a:gs>
                <a:gs pos="100000">
                  <a:srgbClr val="00E8FF">
                    <a:alpha val="100000"/>
                  </a:srgbClr>
                </a:gs>
              </a:gsLst>
              <a:lin ang="2700000"/>
            </a:gradFill>
          </p:spPr>
        </p:sp>
        <p:sp>
          <p:nvSpPr>
            <p:cNvPr id="4" name="TextBox 4"/>
            <p:cNvSpPr txBox="1"/>
            <p:nvPr/>
          </p:nvSpPr>
          <p:spPr>
            <a:xfrm>
              <a:off x="0" y="-38100"/>
              <a:ext cx="4816593" cy="104225"/>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450871" y="1048804"/>
            <a:ext cx="16808429" cy="1094321"/>
          </a:xfrm>
          <a:prstGeom prst="rect">
            <a:avLst/>
          </a:prstGeom>
        </p:spPr>
        <p:txBody>
          <a:bodyPr lIns="0" tIns="0" rIns="0" bIns="0" rtlCol="0" anchor="t">
            <a:spAutoFit/>
          </a:bodyPr>
          <a:lstStyle/>
          <a:p>
            <a:pPr algn="l">
              <a:lnSpc>
                <a:spcPts val="7943"/>
              </a:lnSpc>
            </a:pPr>
            <a:r>
              <a:rPr lang="en-US" sz="8924" b="1">
                <a:solidFill>
                  <a:srgbClr val="00E8FF"/>
                </a:solidFill>
                <a:latin typeface="TT Supermolot Neue Bold"/>
                <a:ea typeface="TT Supermolot Neue Bold"/>
                <a:cs typeface="TT Supermolot Neue Bold"/>
                <a:sym typeface="TT Supermolot Neue Bold"/>
              </a:rPr>
              <a:t>OBJECTIVE &amp; LAB ENVIRONMENT</a:t>
            </a:r>
          </a:p>
        </p:txBody>
      </p:sp>
      <p:sp>
        <p:nvSpPr>
          <p:cNvPr id="6" name="TextBox 6"/>
          <p:cNvSpPr txBox="1"/>
          <p:nvPr/>
        </p:nvSpPr>
        <p:spPr>
          <a:xfrm>
            <a:off x="806779" y="2656886"/>
            <a:ext cx="14012466" cy="2656840"/>
          </a:xfrm>
          <a:prstGeom prst="rect">
            <a:avLst/>
          </a:prstGeom>
        </p:spPr>
        <p:txBody>
          <a:bodyPr lIns="0" tIns="0" rIns="0" bIns="0" rtlCol="0" anchor="t">
            <a:spAutoFit/>
          </a:bodyPr>
          <a:lstStyle/>
          <a:p>
            <a:pPr marL="410209" lvl="1" indent="-205105" algn="l">
              <a:lnSpc>
                <a:spcPts val="2659"/>
              </a:lnSpc>
              <a:spcBef>
                <a:spcPct val="0"/>
              </a:spcBef>
              <a:buFont typeface="Arial"/>
              <a:buChar char="•"/>
            </a:pPr>
            <a:r>
              <a:rPr lang="en-US" sz="1899">
                <a:solidFill>
                  <a:srgbClr val="FFFFFF"/>
                </a:solidFill>
                <a:latin typeface="Canva Sans"/>
                <a:ea typeface="Canva Sans"/>
                <a:cs typeface="Canva Sans"/>
                <a:sym typeface="Canva Sans"/>
              </a:rPr>
              <a:t>To understand the basic concepts of Vulnerability Assessment and Penetration Testing (VAPT).</a:t>
            </a:r>
          </a:p>
          <a:p>
            <a:pPr marL="410209" lvl="1" indent="-205105" algn="l">
              <a:lnSpc>
                <a:spcPts val="2659"/>
              </a:lnSpc>
              <a:spcBef>
                <a:spcPct val="0"/>
              </a:spcBef>
              <a:buFont typeface="Arial"/>
              <a:buChar char="•"/>
            </a:pPr>
            <a:r>
              <a:rPr lang="en-US" sz="1899">
                <a:solidFill>
                  <a:srgbClr val="FFFFFF"/>
                </a:solidFill>
                <a:latin typeface="Canva Sans"/>
                <a:ea typeface="Canva Sans"/>
                <a:cs typeface="Canva Sans"/>
                <a:sym typeface="Canva Sans"/>
              </a:rPr>
              <a:t>To learn how to use Nmap for network scanning, open-port identification, and service detection.</a:t>
            </a:r>
          </a:p>
          <a:p>
            <a:pPr marL="410209" lvl="1" indent="-205105" algn="l">
              <a:lnSpc>
                <a:spcPts val="2659"/>
              </a:lnSpc>
              <a:spcBef>
                <a:spcPct val="0"/>
              </a:spcBef>
              <a:buFont typeface="Arial"/>
              <a:buChar char="•"/>
            </a:pPr>
            <a:r>
              <a:rPr lang="en-US" sz="1899">
                <a:solidFill>
                  <a:srgbClr val="FFFFFF"/>
                </a:solidFill>
                <a:latin typeface="Canva Sans"/>
                <a:ea typeface="Canva Sans"/>
                <a:cs typeface="Canva Sans"/>
                <a:sym typeface="Canva Sans"/>
              </a:rPr>
              <a:t>To use Nikto to identify common web-server security issues and missing security configurations.</a:t>
            </a:r>
          </a:p>
          <a:p>
            <a:pPr marL="410209" lvl="1" indent="-205105" algn="l">
              <a:lnSpc>
                <a:spcPts val="2659"/>
              </a:lnSpc>
              <a:spcBef>
                <a:spcPct val="0"/>
              </a:spcBef>
              <a:buFont typeface="Arial"/>
              <a:buChar char="•"/>
            </a:pPr>
            <a:r>
              <a:rPr lang="en-US" sz="1899">
                <a:solidFill>
                  <a:srgbClr val="FFFFFF"/>
                </a:solidFill>
                <a:latin typeface="Canva Sans"/>
                <a:ea typeface="Canva Sans"/>
                <a:cs typeface="Canva Sans"/>
                <a:sym typeface="Canva Sans"/>
              </a:rPr>
              <a:t>To learn the basics of Burp Suite as a web application security testing and HTTP proxy tool.</a:t>
            </a:r>
          </a:p>
          <a:p>
            <a:pPr marL="410209" lvl="1" indent="-205105" algn="l">
              <a:lnSpc>
                <a:spcPts val="2659"/>
              </a:lnSpc>
              <a:spcBef>
                <a:spcPct val="0"/>
              </a:spcBef>
              <a:buFont typeface="Arial"/>
              <a:buChar char="•"/>
            </a:pPr>
            <a:r>
              <a:rPr lang="en-US" sz="1899">
                <a:solidFill>
                  <a:srgbClr val="FFFFFF"/>
                </a:solidFill>
                <a:latin typeface="Canva Sans"/>
                <a:ea typeface="Canva Sans"/>
                <a:cs typeface="Canva Sans"/>
                <a:sym typeface="Canva Sans"/>
              </a:rPr>
              <a:t>To capture and analyze HTTP requests, headers, and cookies using Burp Suite.</a:t>
            </a:r>
          </a:p>
          <a:p>
            <a:pPr marL="410209" lvl="1" indent="-205105" algn="l">
              <a:lnSpc>
                <a:spcPts val="2659"/>
              </a:lnSpc>
              <a:spcBef>
                <a:spcPct val="0"/>
              </a:spcBef>
              <a:buFont typeface="Arial"/>
              <a:buChar char="•"/>
            </a:pPr>
            <a:r>
              <a:rPr lang="en-US" sz="1899">
                <a:solidFill>
                  <a:srgbClr val="FFFFFF"/>
                </a:solidFill>
                <a:latin typeface="Canva Sans"/>
                <a:ea typeface="Canva Sans"/>
                <a:cs typeface="Canva Sans"/>
                <a:sym typeface="Canva Sans"/>
              </a:rPr>
              <a:t>To identify and document at least three security findings from the practical testing.</a:t>
            </a:r>
          </a:p>
          <a:p>
            <a:pPr marL="410209" lvl="1" indent="-205105" algn="l">
              <a:lnSpc>
                <a:spcPts val="2659"/>
              </a:lnSpc>
              <a:spcBef>
                <a:spcPct val="0"/>
              </a:spcBef>
              <a:buFont typeface="Arial"/>
              <a:buChar char="•"/>
            </a:pPr>
            <a:r>
              <a:rPr lang="en-US" sz="1899">
                <a:solidFill>
                  <a:srgbClr val="FFFFFF"/>
                </a:solidFill>
                <a:latin typeface="Canva Sans"/>
                <a:ea typeface="Canva Sans"/>
                <a:cs typeface="Canva Sans"/>
                <a:sym typeface="Canva Sans"/>
              </a:rPr>
              <a:t>To understand security weaknesses in a controlled and authorized laboratory environment.</a:t>
            </a:r>
          </a:p>
          <a:p>
            <a:pPr marL="410209" lvl="1" indent="-205105" algn="l">
              <a:lnSpc>
                <a:spcPts val="2659"/>
              </a:lnSpc>
              <a:spcBef>
                <a:spcPct val="0"/>
              </a:spcBef>
              <a:buFont typeface="Arial"/>
              <a:buChar char="•"/>
            </a:pPr>
            <a:r>
              <a:rPr lang="en-US" sz="1899">
                <a:solidFill>
                  <a:srgbClr val="FFFFFF"/>
                </a:solidFill>
                <a:latin typeface="Canva Sans"/>
                <a:ea typeface="Canva Sans"/>
                <a:cs typeface="Canva Sans"/>
                <a:sym typeface="Canva Sans"/>
              </a:rPr>
              <a:t>To gain hands-on experience with commonly used VAPT tools while following ethical and authorized testing practices.</a:t>
            </a:r>
          </a:p>
        </p:txBody>
      </p:sp>
      <p:sp>
        <p:nvSpPr>
          <p:cNvPr id="7" name="TextBox 7"/>
          <p:cNvSpPr txBox="1"/>
          <p:nvPr/>
        </p:nvSpPr>
        <p:spPr>
          <a:xfrm>
            <a:off x="806779" y="6370282"/>
            <a:ext cx="16230600" cy="1780540"/>
          </a:xfrm>
          <a:prstGeom prst="rect">
            <a:avLst/>
          </a:prstGeom>
        </p:spPr>
        <p:txBody>
          <a:bodyPr lIns="0" tIns="0" rIns="0" bIns="0" rtlCol="0" anchor="t">
            <a:spAutoFit/>
          </a:bodyPr>
          <a:lstStyle/>
          <a:p>
            <a:pPr algn="l">
              <a:lnSpc>
                <a:spcPts val="4759"/>
              </a:lnSpc>
            </a:pPr>
            <a:r>
              <a:rPr lang="en-US" sz="3399">
                <a:solidFill>
                  <a:srgbClr val="FFFFFF"/>
                </a:solidFill>
                <a:latin typeface="Canva Sans"/>
                <a:ea typeface="Canva Sans"/>
                <a:cs typeface="Canva Sans"/>
                <a:sym typeface="Canva Sans"/>
              </a:rPr>
              <a:t>The Kali Linux machine was used as the security testing machine, while the Windows 7 virtual machine hosted the Nginx web server as the authorized target.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163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484118" cy="7795013"/>
            <a:chOff x="0" y="0"/>
            <a:chExt cx="127504" cy="2053007"/>
          </a:xfrm>
        </p:grpSpPr>
        <p:sp>
          <p:nvSpPr>
            <p:cNvPr id="3" name="Freeform 3"/>
            <p:cNvSpPr/>
            <p:nvPr/>
          </p:nvSpPr>
          <p:spPr>
            <a:xfrm>
              <a:off x="0" y="0"/>
              <a:ext cx="127504" cy="2053007"/>
            </a:xfrm>
            <a:custGeom>
              <a:avLst/>
              <a:gdLst/>
              <a:ahLst/>
              <a:cxnLst/>
              <a:rect l="l" t="t" r="r" b="b"/>
              <a:pathLst>
                <a:path w="127504" h="2053007">
                  <a:moveTo>
                    <a:pt x="0" y="0"/>
                  </a:moveTo>
                  <a:lnTo>
                    <a:pt x="127504" y="0"/>
                  </a:lnTo>
                  <a:lnTo>
                    <a:pt x="127504" y="2053007"/>
                  </a:lnTo>
                  <a:lnTo>
                    <a:pt x="0" y="2053007"/>
                  </a:lnTo>
                  <a:close/>
                </a:path>
              </a:pathLst>
            </a:custGeom>
            <a:gradFill rotWithShape="1">
              <a:gsLst>
                <a:gs pos="0">
                  <a:srgbClr val="00B2FF">
                    <a:alpha val="100000"/>
                  </a:srgbClr>
                </a:gs>
                <a:gs pos="100000">
                  <a:srgbClr val="00E8FF">
                    <a:alpha val="100000"/>
                  </a:srgbClr>
                </a:gs>
              </a:gsLst>
              <a:lin ang="2700000"/>
            </a:gradFill>
          </p:spPr>
        </p:sp>
        <p:sp>
          <p:nvSpPr>
            <p:cNvPr id="4" name="TextBox 4"/>
            <p:cNvSpPr txBox="1"/>
            <p:nvPr/>
          </p:nvSpPr>
          <p:spPr>
            <a:xfrm>
              <a:off x="0" y="-38100"/>
              <a:ext cx="127504" cy="2091107"/>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177341" y="1967262"/>
            <a:ext cx="11221792" cy="2707710"/>
          </a:xfrm>
          <a:custGeom>
            <a:avLst/>
            <a:gdLst/>
            <a:ahLst/>
            <a:cxnLst/>
            <a:rect l="l" t="t" r="r" b="b"/>
            <a:pathLst>
              <a:path w="11221792" h="2707710">
                <a:moveTo>
                  <a:pt x="0" y="0"/>
                </a:moveTo>
                <a:lnTo>
                  <a:pt x="11221792" y="0"/>
                </a:lnTo>
                <a:lnTo>
                  <a:pt x="11221792" y="2707710"/>
                </a:lnTo>
                <a:lnTo>
                  <a:pt x="0" y="2707710"/>
                </a:lnTo>
                <a:lnTo>
                  <a:pt x="0" y="0"/>
                </a:lnTo>
                <a:close/>
              </a:path>
            </a:pathLst>
          </a:custGeom>
          <a:blipFill>
            <a:blip r:embed="rId2"/>
            <a:stretch>
              <a:fillRect/>
            </a:stretch>
          </a:blipFill>
        </p:spPr>
      </p:sp>
      <p:sp>
        <p:nvSpPr>
          <p:cNvPr id="6" name="TextBox 6"/>
          <p:cNvSpPr txBox="1"/>
          <p:nvPr/>
        </p:nvSpPr>
        <p:spPr>
          <a:xfrm>
            <a:off x="1028700" y="615910"/>
            <a:ext cx="15313959" cy="891713"/>
          </a:xfrm>
          <a:prstGeom prst="rect">
            <a:avLst/>
          </a:prstGeom>
        </p:spPr>
        <p:txBody>
          <a:bodyPr lIns="0" tIns="0" rIns="0" bIns="0" rtlCol="0" anchor="t">
            <a:spAutoFit/>
          </a:bodyPr>
          <a:lstStyle/>
          <a:p>
            <a:pPr algn="l">
              <a:lnSpc>
                <a:spcPts val="6461"/>
              </a:lnSpc>
            </a:pPr>
            <a:r>
              <a:rPr lang="en-US" sz="7259" b="1">
                <a:solidFill>
                  <a:srgbClr val="00E8FF"/>
                </a:solidFill>
                <a:latin typeface="TT Supermolot Neue Bold"/>
                <a:ea typeface="TT Supermolot Neue Bold"/>
                <a:cs typeface="TT Supermolot Neue Bold"/>
                <a:sym typeface="TT Supermolot Neue Bold"/>
              </a:rPr>
              <a:t>TASK 1 - NMAP NETWORK SCANNING</a:t>
            </a:r>
          </a:p>
        </p:txBody>
      </p:sp>
      <p:sp>
        <p:nvSpPr>
          <p:cNvPr id="7" name="TextBox 7"/>
          <p:cNvSpPr txBox="1"/>
          <p:nvPr/>
        </p:nvSpPr>
        <p:spPr>
          <a:xfrm>
            <a:off x="1028700" y="5075022"/>
            <a:ext cx="16771540" cy="3648710"/>
          </a:xfrm>
          <a:prstGeom prst="rect">
            <a:avLst/>
          </a:prstGeom>
        </p:spPr>
        <p:txBody>
          <a:bodyPr lIns="0" tIns="0" rIns="0" bIns="0" rtlCol="0" anchor="t">
            <a:spAutoFit/>
          </a:bodyPr>
          <a:lstStyle/>
          <a:p>
            <a:pPr algn="l">
              <a:lnSpc>
                <a:spcPts val="3640"/>
              </a:lnSpc>
            </a:pPr>
            <a:r>
              <a:rPr lang="en-US" sz="2600">
                <a:solidFill>
                  <a:srgbClr val="FFFFFF"/>
                </a:solidFill>
                <a:latin typeface="Canva Sans"/>
                <a:ea typeface="Canva Sans"/>
                <a:cs typeface="Canva Sans"/>
                <a:sym typeface="Canva Sans"/>
              </a:rPr>
              <a:t>Nmap was used to perform network reconnaissance and identify available services on the authorized target testphp.vulnweb.com. Three scans were performed: SYN scan (-sS), service/version detection (-sV), and aggressive scan (-A). The scans showed that the target was reachable, but the 1000 scanned TCP ports were filtered with no response. The service detection scan did not identify any open TCP services. The aggressive scan also indicated that OS detection was unreliable because no open and closed ports were available for accurate fingerprinting. These scans provided basic information about the target's network accessibility, ports, and service-detection status.</a:t>
            </a:r>
          </a:p>
          <a:p>
            <a:pPr algn="l">
              <a:lnSpc>
                <a:spcPts val="3640"/>
              </a:lnSpc>
            </a:pPr>
            <a:endParaRPr lang="en-US" sz="2600">
              <a:solidFill>
                <a:srgbClr val="FFFFFF"/>
              </a:solidFill>
              <a:latin typeface="Canva Sans"/>
              <a:ea typeface="Canva Sans"/>
              <a:cs typeface="Canva Sans"/>
              <a:sym typeface="Canv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1633"/>
        </a:solidFill>
        <a:effectLst/>
      </p:bgPr>
    </p:bg>
    <p:spTree>
      <p:nvGrpSpPr>
        <p:cNvPr id="1" name=""/>
        <p:cNvGrpSpPr/>
        <p:nvPr/>
      </p:nvGrpSpPr>
      <p:grpSpPr>
        <a:xfrm>
          <a:off x="0" y="0"/>
          <a:ext cx="0" cy="0"/>
          <a:chOff x="0" y="0"/>
          <a:chExt cx="0" cy="0"/>
        </a:xfrm>
      </p:grpSpPr>
      <p:sp>
        <p:nvSpPr>
          <p:cNvPr id="3" name="Freeform 3"/>
          <p:cNvSpPr/>
          <p:nvPr/>
        </p:nvSpPr>
        <p:spPr>
          <a:xfrm>
            <a:off x="605549" y="2183193"/>
            <a:ext cx="13084230" cy="2960307"/>
          </a:xfrm>
          <a:custGeom>
            <a:avLst/>
            <a:gdLst/>
            <a:ahLst/>
            <a:cxnLst/>
            <a:rect l="l" t="t" r="r" b="b"/>
            <a:pathLst>
              <a:path w="13084230" h="2960307">
                <a:moveTo>
                  <a:pt x="0" y="0"/>
                </a:moveTo>
                <a:lnTo>
                  <a:pt x="13084230" y="0"/>
                </a:lnTo>
                <a:lnTo>
                  <a:pt x="13084230" y="2960307"/>
                </a:lnTo>
                <a:lnTo>
                  <a:pt x="0" y="2960307"/>
                </a:lnTo>
                <a:lnTo>
                  <a:pt x="0" y="0"/>
                </a:lnTo>
                <a:close/>
              </a:path>
            </a:pathLst>
          </a:custGeom>
          <a:blipFill>
            <a:blip r:embed="rId2"/>
            <a:stretch>
              <a:fillRect/>
            </a:stretch>
          </a:blipFill>
        </p:spPr>
      </p:sp>
      <p:sp>
        <p:nvSpPr>
          <p:cNvPr id="4" name="TextBox 4"/>
          <p:cNvSpPr txBox="1"/>
          <p:nvPr/>
        </p:nvSpPr>
        <p:spPr>
          <a:xfrm>
            <a:off x="344691" y="717131"/>
            <a:ext cx="17371348" cy="844590"/>
          </a:xfrm>
          <a:prstGeom prst="rect">
            <a:avLst/>
          </a:prstGeom>
        </p:spPr>
        <p:txBody>
          <a:bodyPr wrap="square" lIns="0" tIns="0" rIns="0" bIns="0" rtlCol="0" anchor="t">
            <a:spAutoFit/>
          </a:bodyPr>
          <a:lstStyle/>
          <a:p>
            <a:pPr algn="l">
              <a:lnSpc>
                <a:spcPts val="6349"/>
              </a:lnSpc>
            </a:pPr>
            <a:r>
              <a:rPr lang="en-US" sz="7134" b="1" dirty="0">
                <a:solidFill>
                  <a:srgbClr val="00E8FF"/>
                </a:solidFill>
                <a:latin typeface="TT Supermolot Neue Bold"/>
                <a:ea typeface="TT Supermolot Neue Bold"/>
                <a:cs typeface="TT Supermolot Neue Bold"/>
                <a:sym typeface="TT Supermolot Neue Bold"/>
              </a:rPr>
              <a:t>TASK 2 - NIKTO WEB VULNERABILITY SCAN  </a:t>
            </a:r>
          </a:p>
        </p:txBody>
      </p:sp>
      <p:sp>
        <p:nvSpPr>
          <p:cNvPr id="5" name="TextBox 5"/>
          <p:cNvSpPr txBox="1"/>
          <p:nvPr/>
        </p:nvSpPr>
        <p:spPr>
          <a:xfrm>
            <a:off x="605549" y="5377571"/>
            <a:ext cx="6866386" cy="1725476"/>
          </a:xfrm>
          <a:prstGeom prst="rect">
            <a:avLst/>
          </a:prstGeom>
        </p:spPr>
        <p:txBody>
          <a:bodyPr lIns="0" tIns="0" rIns="0" bIns="0" rtlCol="0" anchor="t">
            <a:spAutoFit/>
          </a:bodyPr>
          <a:lstStyle/>
          <a:p>
            <a:pPr marL="425061" lvl="1" indent="-212531" algn="l">
              <a:lnSpc>
                <a:spcPts val="2756"/>
              </a:lnSpc>
              <a:buFont typeface="Arial"/>
              <a:buChar char="•"/>
            </a:pPr>
            <a:r>
              <a:rPr lang="en-US" sz="1968">
                <a:solidFill>
                  <a:srgbClr val="FFFFFF"/>
                </a:solidFill>
                <a:latin typeface="Canva Sans"/>
                <a:ea typeface="Canva Sans"/>
                <a:cs typeface="Canva Sans"/>
                <a:sym typeface="Canva Sans"/>
              </a:rPr>
              <a:t>TARGET : 10.0.2.3</a:t>
            </a:r>
          </a:p>
          <a:p>
            <a:pPr algn="l">
              <a:lnSpc>
                <a:spcPts val="2756"/>
              </a:lnSpc>
            </a:pPr>
            <a:r>
              <a:rPr lang="en-US" sz="1968">
                <a:solidFill>
                  <a:srgbClr val="FFFFFF"/>
                </a:solidFill>
                <a:latin typeface="Canva Sans"/>
                <a:ea typeface="Canva Sans"/>
                <a:cs typeface="Canva Sans"/>
                <a:sym typeface="Canva Sans"/>
              </a:rPr>
              <a:t>                         Server: nginx/1.20.2</a:t>
            </a:r>
          </a:p>
          <a:p>
            <a:pPr algn="l">
              <a:lnSpc>
                <a:spcPts val="2756"/>
              </a:lnSpc>
            </a:pPr>
            <a:endParaRPr lang="en-US" sz="1968">
              <a:solidFill>
                <a:srgbClr val="FFFFFF"/>
              </a:solidFill>
              <a:latin typeface="Canva Sans"/>
              <a:ea typeface="Canva Sans"/>
              <a:cs typeface="Canva Sans"/>
              <a:sym typeface="Canva Sans"/>
            </a:endParaRPr>
          </a:p>
          <a:p>
            <a:pPr marL="425061" lvl="1" indent="-212531" algn="l">
              <a:lnSpc>
                <a:spcPts val="2756"/>
              </a:lnSpc>
              <a:buFont typeface="Arial"/>
              <a:buChar char="•"/>
            </a:pPr>
            <a:r>
              <a:rPr lang="en-US" sz="1968">
                <a:solidFill>
                  <a:srgbClr val="FFFFFF"/>
                </a:solidFill>
                <a:latin typeface="Canva Sans"/>
                <a:ea typeface="Canva Sans"/>
                <a:cs typeface="Canva Sans"/>
                <a:sym typeface="Canva Sans"/>
              </a:rPr>
              <a:t>RESULT : 8218 requests: 0 errors and 7 items reported</a:t>
            </a:r>
          </a:p>
          <a:p>
            <a:pPr algn="l">
              <a:lnSpc>
                <a:spcPts val="2756"/>
              </a:lnSpc>
            </a:pPr>
            <a:endParaRPr lang="en-US" sz="1968">
              <a:solidFill>
                <a:srgbClr val="FFFFFF"/>
              </a:solidFill>
              <a:latin typeface="Canva Sans"/>
              <a:ea typeface="Canva Sans"/>
              <a:cs typeface="Canva Sans"/>
              <a:sym typeface="Canv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1633"/>
        </a:solidFill>
        <a:effectLst/>
      </p:bgPr>
    </p:bg>
    <p:spTree>
      <p:nvGrpSpPr>
        <p:cNvPr id="1" name="">
          <a:extLst>
            <a:ext uri="{FF2B5EF4-FFF2-40B4-BE49-F238E27FC236}">
              <a16:creationId xmlns:a16="http://schemas.microsoft.com/office/drawing/2014/main" id="{F8B9E208-2A55-07D2-89A4-F535CEE25531}"/>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29287F2A-9822-572D-D1DA-77E85D8866C0}"/>
              </a:ext>
            </a:extLst>
          </p:cNvPr>
          <p:cNvSpPr txBox="1"/>
          <p:nvPr/>
        </p:nvSpPr>
        <p:spPr>
          <a:xfrm>
            <a:off x="378094" y="1523310"/>
            <a:ext cx="17943309" cy="3939540"/>
          </a:xfrm>
          <a:prstGeom prst="rect">
            <a:avLst/>
          </a:prstGeom>
        </p:spPr>
        <p:txBody>
          <a:bodyPr lIns="0" tIns="0" rIns="0" bIns="0" rtlCol="0" anchor="t">
            <a:spAutoFit/>
          </a:bodyPr>
          <a:lstStyle/>
          <a:p>
            <a:pPr marL="457200" indent="-457200">
              <a:buFont typeface="Arial" panose="020B0604020202020204" pitchFamily="34" charset="0"/>
              <a:buChar char="•"/>
            </a:pPr>
            <a:r>
              <a:rPr lang="en-IN" sz="3200" b="1" dirty="0">
                <a:solidFill>
                  <a:schemeClr val="bg1"/>
                </a:solidFill>
              </a:rPr>
              <a:t>Finding 1 — Missing Content-Security-Policy (CSP)</a:t>
            </a:r>
            <a:br>
              <a:rPr lang="en-IN" sz="3200" dirty="0">
                <a:solidFill>
                  <a:schemeClr val="bg1"/>
                </a:solidFill>
              </a:rPr>
            </a:br>
            <a:r>
              <a:rPr lang="en-IN" sz="3200" dirty="0">
                <a:solidFill>
                  <a:schemeClr val="bg1"/>
                </a:solidFill>
              </a:rPr>
              <a:t>The server does not define a CSP to restrict which resources browsers can load.</a:t>
            </a:r>
          </a:p>
          <a:p>
            <a:pPr marL="457200" indent="-457200">
              <a:buFont typeface="Arial" panose="020B0604020202020204" pitchFamily="34" charset="0"/>
              <a:buChar char="•"/>
            </a:pPr>
            <a:endParaRPr lang="en-IN" sz="3200" dirty="0">
              <a:solidFill>
                <a:schemeClr val="bg1"/>
              </a:solidFill>
            </a:endParaRPr>
          </a:p>
          <a:p>
            <a:pPr marL="457200" indent="-457200">
              <a:buFont typeface="Arial" panose="020B0604020202020204" pitchFamily="34" charset="0"/>
              <a:buChar char="•"/>
            </a:pPr>
            <a:r>
              <a:rPr lang="en-IN" sz="3200" b="1" dirty="0">
                <a:solidFill>
                  <a:schemeClr val="bg1"/>
                </a:solidFill>
              </a:rPr>
              <a:t>Finding 2 — Missing X-Content-Type-Options</a:t>
            </a:r>
            <a:br>
              <a:rPr lang="en-IN" sz="3200" dirty="0">
                <a:solidFill>
                  <a:schemeClr val="bg1"/>
                </a:solidFill>
              </a:rPr>
            </a:br>
            <a:r>
              <a:rPr lang="en-IN" sz="3200" dirty="0">
                <a:solidFill>
                  <a:schemeClr val="bg1"/>
                </a:solidFill>
              </a:rPr>
              <a:t>The security header is not configured to prevent MIME-type sniffing.</a:t>
            </a:r>
          </a:p>
          <a:p>
            <a:pPr marL="457200" indent="-457200">
              <a:buFont typeface="Arial" panose="020B0604020202020204" pitchFamily="34" charset="0"/>
              <a:buChar char="•"/>
            </a:pPr>
            <a:endParaRPr lang="en-IN" sz="3200" dirty="0">
              <a:solidFill>
                <a:schemeClr val="bg1"/>
              </a:solidFill>
            </a:endParaRPr>
          </a:p>
          <a:p>
            <a:pPr marL="457200" indent="-457200">
              <a:buFont typeface="Arial" panose="020B0604020202020204" pitchFamily="34" charset="0"/>
              <a:buChar char="•"/>
            </a:pPr>
            <a:r>
              <a:rPr lang="en-IN" sz="3200" b="1" dirty="0">
                <a:solidFill>
                  <a:schemeClr val="bg1"/>
                </a:solidFill>
              </a:rPr>
              <a:t>Finding 3 — Missing Referrer-Policy</a:t>
            </a:r>
            <a:br>
              <a:rPr lang="en-IN" sz="3200" dirty="0">
                <a:solidFill>
                  <a:schemeClr val="bg1"/>
                </a:solidFill>
              </a:rPr>
            </a:br>
            <a:r>
              <a:rPr lang="en-IN" sz="3200" dirty="0">
                <a:solidFill>
                  <a:schemeClr val="bg1"/>
                </a:solidFill>
              </a:rPr>
              <a:t>The server does not specify how much referrer information should be sent with requests.</a:t>
            </a:r>
          </a:p>
        </p:txBody>
      </p:sp>
      <p:sp>
        <p:nvSpPr>
          <p:cNvPr id="7" name="TextBox 6">
            <a:extLst>
              <a:ext uri="{FF2B5EF4-FFF2-40B4-BE49-F238E27FC236}">
                <a16:creationId xmlns:a16="http://schemas.microsoft.com/office/drawing/2014/main" id="{FF208560-99AB-E14F-7368-B833C1BE4550}"/>
              </a:ext>
            </a:extLst>
          </p:cNvPr>
          <p:cNvSpPr txBox="1"/>
          <p:nvPr/>
        </p:nvSpPr>
        <p:spPr>
          <a:xfrm>
            <a:off x="762000" y="5829300"/>
            <a:ext cx="16459200" cy="3364896"/>
          </a:xfrm>
          <a:prstGeom prst="rect">
            <a:avLst/>
          </a:prstGeom>
          <a:noFill/>
        </p:spPr>
        <p:txBody>
          <a:bodyPr wrap="square">
            <a:spAutoFit/>
          </a:bodyPr>
          <a:lstStyle/>
          <a:p>
            <a:pPr algn="l">
              <a:lnSpc>
                <a:spcPts val="4306"/>
              </a:lnSpc>
            </a:pPr>
            <a:r>
              <a:rPr lang="en-US" sz="3076" b="1" dirty="0">
                <a:solidFill>
                  <a:srgbClr val="FFFFFF"/>
                </a:solidFill>
                <a:latin typeface="Canva Sans"/>
                <a:ea typeface="Canva Sans"/>
                <a:cs typeface="Canva Sans"/>
                <a:sym typeface="Canva Sans"/>
              </a:rPr>
              <a:t>NOTE</a:t>
            </a:r>
            <a:r>
              <a:rPr lang="en-US" sz="3076" dirty="0">
                <a:solidFill>
                  <a:srgbClr val="FFFFFF"/>
                </a:solidFill>
                <a:latin typeface="Canva Sans"/>
                <a:ea typeface="Canva Sans"/>
                <a:cs typeface="Canva Sans"/>
                <a:sym typeface="Canva Sans"/>
              </a:rPr>
              <a:t> : The assignment specified http://testphp.vulnweb.com as the safe external target. However, during testing it was unreachable on port 80 from the Kali environment, so the </a:t>
            </a:r>
            <a:r>
              <a:rPr lang="en-US" sz="3076" dirty="0" err="1">
                <a:solidFill>
                  <a:srgbClr val="FFFFFF"/>
                </a:solidFill>
                <a:latin typeface="Canva Sans"/>
                <a:ea typeface="Canva Sans"/>
                <a:cs typeface="Canva Sans"/>
                <a:sym typeface="Canva Sans"/>
              </a:rPr>
              <a:t>Nikto</a:t>
            </a:r>
            <a:r>
              <a:rPr lang="en-US" sz="3076" dirty="0">
                <a:solidFill>
                  <a:srgbClr val="FFFFFF"/>
                </a:solidFill>
                <a:latin typeface="Canva Sans"/>
                <a:ea typeface="Canva Sans"/>
                <a:cs typeface="Canva Sans"/>
                <a:sym typeface="Canva Sans"/>
              </a:rPr>
              <a:t> and Burp practical demonstrations were performed against the user's own authorized Windows 7/</a:t>
            </a:r>
            <a:r>
              <a:rPr lang="en-US" sz="3076">
                <a:solidFill>
                  <a:srgbClr val="FFFFFF"/>
                </a:solidFill>
                <a:latin typeface="Canva Sans"/>
                <a:ea typeface="Canva Sans"/>
                <a:cs typeface="Canva Sans"/>
                <a:sym typeface="Canva Sans"/>
              </a:rPr>
              <a:t>Nginx lab(</a:t>
            </a:r>
            <a:r>
              <a:rPr lang="en-US" sz="3076" dirty="0">
                <a:solidFill>
                  <a:srgbClr val="FFFFFF"/>
                </a:solidFill>
                <a:latin typeface="Canva Sans"/>
                <a:ea typeface="Canva Sans"/>
                <a:cs typeface="Canva Sans"/>
                <a:sym typeface="Canva Sans"/>
              </a:rPr>
              <a:t>10.0.2.3). This should be stated honestly in the report rather than attributing the local findings to </a:t>
            </a:r>
            <a:r>
              <a:rPr lang="en-US" sz="3076" dirty="0" err="1">
                <a:solidFill>
                  <a:srgbClr val="FFFFFF"/>
                </a:solidFill>
                <a:latin typeface="Canva Sans"/>
                <a:ea typeface="Canva Sans"/>
                <a:cs typeface="Canva Sans"/>
                <a:sym typeface="Canva Sans"/>
              </a:rPr>
              <a:t>VulnWeb</a:t>
            </a:r>
            <a:r>
              <a:rPr lang="en-US" sz="3076" dirty="0">
                <a:solidFill>
                  <a:srgbClr val="FFFFFF"/>
                </a:solidFill>
                <a:latin typeface="Canva Sans"/>
                <a:ea typeface="Canva Sans"/>
                <a:cs typeface="Canva Sans"/>
                <a:sym typeface="Canva Sans"/>
              </a:rPr>
              <a:t>. </a:t>
            </a:r>
          </a:p>
          <a:p>
            <a:pPr algn="l">
              <a:lnSpc>
                <a:spcPts val="4306"/>
              </a:lnSpc>
            </a:pPr>
            <a:endParaRPr lang="en-US" sz="3076" dirty="0">
              <a:solidFill>
                <a:srgbClr val="FFFFFF"/>
              </a:solidFill>
              <a:latin typeface="Canva Sans"/>
              <a:ea typeface="Canva Sans"/>
              <a:cs typeface="Canva Sans"/>
              <a:sym typeface="Canva Sans"/>
            </a:endParaRPr>
          </a:p>
        </p:txBody>
      </p:sp>
    </p:spTree>
    <p:extLst>
      <p:ext uri="{BB962C8B-B14F-4D97-AF65-F5344CB8AC3E}">
        <p14:creationId xmlns:p14="http://schemas.microsoft.com/office/powerpoint/2010/main" val="3470727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1633"/>
        </a:solidFill>
        <a:effectLst/>
      </p:bgPr>
    </p:bg>
    <p:spTree>
      <p:nvGrpSpPr>
        <p:cNvPr id="1" name=""/>
        <p:cNvGrpSpPr/>
        <p:nvPr/>
      </p:nvGrpSpPr>
      <p:grpSpPr>
        <a:xfrm>
          <a:off x="0" y="0"/>
          <a:ext cx="0" cy="0"/>
          <a:chOff x="0" y="0"/>
          <a:chExt cx="0" cy="0"/>
        </a:xfrm>
      </p:grpSpPr>
      <p:sp>
        <p:nvSpPr>
          <p:cNvPr id="3" name="Freeform 3"/>
          <p:cNvSpPr/>
          <p:nvPr/>
        </p:nvSpPr>
        <p:spPr>
          <a:xfrm>
            <a:off x="2583704" y="2811714"/>
            <a:ext cx="11836465" cy="6658012"/>
          </a:xfrm>
          <a:custGeom>
            <a:avLst/>
            <a:gdLst/>
            <a:ahLst/>
            <a:cxnLst/>
            <a:rect l="l" t="t" r="r" b="b"/>
            <a:pathLst>
              <a:path w="11836465" h="6658012">
                <a:moveTo>
                  <a:pt x="0" y="0"/>
                </a:moveTo>
                <a:lnTo>
                  <a:pt x="11836465" y="0"/>
                </a:lnTo>
                <a:lnTo>
                  <a:pt x="11836465" y="6658012"/>
                </a:lnTo>
                <a:lnTo>
                  <a:pt x="0" y="6658012"/>
                </a:lnTo>
                <a:lnTo>
                  <a:pt x="0" y="0"/>
                </a:lnTo>
                <a:close/>
              </a:path>
            </a:pathLst>
          </a:custGeom>
          <a:blipFill>
            <a:blip r:embed="rId2"/>
            <a:stretch>
              <a:fillRect/>
            </a:stretch>
          </a:blipFill>
        </p:spPr>
      </p:sp>
      <p:sp>
        <p:nvSpPr>
          <p:cNvPr id="4" name="TextBox 4"/>
          <p:cNvSpPr txBox="1"/>
          <p:nvPr/>
        </p:nvSpPr>
        <p:spPr>
          <a:xfrm>
            <a:off x="572659" y="565610"/>
            <a:ext cx="10032981" cy="891713"/>
          </a:xfrm>
          <a:prstGeom prst="rect">
            <a:avLst/>
          </a:prstGeom>
        </p:spPr>
        <p:txBody>
          <a:bodyPr lIns="0" tIns="0" rIns="0" bIns="0" rtlCol="0" anchor="t">
            <a:spAutoFit/>
          </a:bodyPr>
          <a:lstStyle/>
          <a:p>
            <a:pPr algn="l">
              <a:lnSpc>
                <a:spcPts val="6461"/>
              </a:lnSpc>
            </a:pPr>
            <a:r>
              <a:rPr lang="en-US" sz="7259" b="1">
                <a:solidFill>
                  <a:srgbClr val="00E8FF"/>
                </a:solidFill>
                <a:latin typeface="TT Supermolot Neue Bold"/>
                <a:ea typeface="TT Supermolot Neue Bold"/>
                <a:cs typeface="TT Supermolot Neue Bold"/>
                <a:sym typeface="TT Supermolot Neue Bold"/>
              </a:rPr>
              <a:t>TASK 3 - BURP SUITE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1633"/>
        </a:solidFill>
        <a:effectLst/>
      </p:bgPr>
    </p:bg>
    <p:spTree>
      <p:nvGrpSpPr>
        <p:cNvPr id="1" name=""/>
        <p:cNvGrpSpPr/>
        <p:nvPr/>
      </p:nvGrpSpPr>
      <p:grpSpPr>
        <a:xfrm>
          <a:off x="0" y="0"/>
          <a:ext cx="0" cy="0"/>
          <a:chOff x="0" y="0"/>
          <a:chExt cx="0" cy="0"/>
        </a:xfrm>
      </p:grpSpPr>
      <p:sp>
        <p:nvSpPr>
          <p:cNvPr id="3" name="Freeform 3"/>
          <p:cNvSpPr/>
          <p:nvPr/>
        </p:nvSpPr>
        <p:spPr>
          <a:xfrm>
            <a:off x="242059" y="1028700"/>
            <a:ext cx="8660846" cy="4871726"/>
          </a:xfrm>
          <a:custGeom>
            <a:avLst/>
            <a:gdLst/>
            <a:ahLst/>
            <a:cxnLst/>
            <a:rect l="l" t="t" r="r" b="b"/>
            <a:pathLst>
              <a:path w="8660846" h="4871726">
                <a:moveTo>
                  <a:pt x="0" y="0"/>
                </a:moveTo>
                <a:lnTo>
                  <a:pt x="8660846" y="0"/>
                </a:lnTo>
                <a:lnTo>
                  <a:pt x="8660846" y="4871726"/>
                </a:lnTo>
                <a:lnTo>
                  <a:pt x="0" y="4871726"/>
                </a:lnTo>
                <a:lnTo>
                  <a:pt x="0" y="0"/>
                </a:lnTo>
                <a:close/>
              </a:path>
            </a:pathLst>
          </a:custGeom>
          <a:blipFill>
            <a:blip r:embed="rId2"/>
            <a:stretch>
              <a:fillRect/>
            </a:stretch>
          </a:blipFill>
        </p:spPr>
      </p:sp>
      <p:sp>
        <p:nvSpPr>
          <p:cNvPr id="4" name="Freeform 4"/>
          <p:cNvSpPr/>
          <p:nvPr/>
        </p:nvSpPr>
        <p:spPr>
          <a:xfrm>
            <a:off x="9581394" y="1298055"/>
            <a:ext cx="8367109" cy="4445027"/>
          </a:xfrm>
          <a:custGeom>
            <a:avLst/>
            <a:gdLst/>
            <a:ahLst/>
            <a:cxnLst/>
            <a:rect l="l" t="t" r="r" b="b"/>
            <a:pathLst>
              <a:path w="8367109" h="4445027">
                <a:moveTo>
                  <a:pt x="0" y="0"/>
                </a:moveTo>
                <a:lnTo>
                  <a:pt x="8367109" y="0"/>
                </a:lnTo>
                <a:lnTo>
                  <a:pt x="8367109" y="4445027"/>
                </a:lnTo>
                <a:lnTo>
                  <a:pt x="0" y="4445027"/>
                </a:lnTo>
                <a:lnTo>
                  <a:pt x="0" y="0"/>
                </a:lnTo>
                <a:close/>
              </a:path>
            </a:pathLst>
          </a:custGeom>
          <a:blipFill>
            <a:blip r:embed="rId3"/>
            <a:stretch>
              <a:fillRect/>
            </a:stretch>
          </a:blipFill>
        </p:spPr>
      </p:sp>
      <p:sp>
        <p:nvSpPr>
          <p:cNvPr id="5" name="TextBox 5"/>
          <p:cNvSpPr txBox="1"/>
          <p:nvPr/>
        </p:nvSpPr>
        <p:spPr>
          <a:xfrm>
            <a:off x="378477" y="6165824"/>
            <a:ext cx="17048856" cy="3781425"/>
          </a:xfrm>
          <a:prstGeom prst="rect">
            <a:avLst/>
          </a:prstGeom>
        </p:spPr>
        <p:txBody>
          <a:bodyPr lIns="0" tIns="0" rIns="0" bIns="0" rtlCol="0" anchor="t">
            <a:spAutoFit/>
          </a:bodyPr>
          <a:lstStyle/>
          <a:p>
            <a:pPr algn="l">
              <a:lnSpc>
                <a:spcPts val="3640"/>
              </a:lnSpc>
            </a:pPr>
            <a:r>
              <a:rPr lang="en-US" sz="2600" dirty="0">
                <a:solidFill>
                  <a:srgbClr val="FFFFFF"/>
                </a:solidFill>
                <a:latin typeface="Canva Sans"/>
                <a:ea typeface="Canva Sans"/>
                <a:cs typeface="Canva Sans"/>
                <a:sym typeface="Canva Sans"/>
              </a:rPr>
              <a:t>Burp Suite was used as an HTTP proxy and web security testing tool to intercept and analyze communication between the Windows 7 browser and the Nginx web server. A Burp Proxy listener was configured on 10.0.2.4:8080, and the Windows 7 browser was configured to route HTTP traffic through the Kali machine. HTTP requests to the authorized lab target 10.0.2.3 were successfully intercepted and analyzed. The captured requests were examined for details such as the HTTP method, host, user-agent, headers, and connection information. Burp Suite's HTTP History was also used to record multiple requests and their responses, including successful responses from the Nginx server.</a:t>
            </a:r>
          </a:p>
          <a:p>
            <a:pPr algn="ctr">
              <a:lnSpc>
                <a:spcPts val="4759"/>
              </a:lnSpc>
            </a:pPr>
            <a:endParaRPr lang="en-US" sz="2600" dirty="0">
              <a:solidFill>
                <a:srgbClr val="FFFFFF"/>
              </a:solidFill>
              <a:latin typeface="Canva Sans"/>
              <a:ea typeface="Canva Sans"/>
              <a:cs typeface="Canva Sans"/>
              <a:sym typeface="Canv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1633"/>
        </a:solidFill>
        <a:effectLst/>
      </p:bgPr>
    </p:bg>
    <p:spTree>
      <p:nvGrpSpPr>
        <p:cNvPr id="1" name=""/>
        <p:cNvGrpSpPr/>
        <p:nvPr/>
      </p:nvGrpSpPr>
      <p:grpSpPr>
        <a:xfrm>
          <a:off x="0" y="0"/>
          <a:ext cx="0" cy="0"/>
          <a:chOff x="0" y="0"/>
          <a:chExt cx="0" cy="0"/>
        </a:xfrm>
      </p:grpSpPr>
      <p:sp>
        <p:nvSpPr>
          <p:cNvPr id="2" name="TextBox 2"/>
          <p:cNvSpPr txBox="1"/>
          <p:nvPr/>
        </p:nvSpPr>
        <p:spPr>
          <a:xfrm>
            <a:off x="662368" y="2119630"/>
            <a:ext cx="17259300" cy="7345281"/>
          </a:xfrm>
          <a:prstGeom prst="rect">
            <a:avLst/>
          </a:prstGeom>
        </p:spPr>
        <p:txBody>
          <a:bodyPr lIns="0" tIns="0" rIns="0" bIns="0" rtlCol="0" anchor="t">
            <a:spAutoFit/>
          </a:bodyPr>
          <a:lstStyle/>
          <a:p>
            <a:pPr algn="l">
              <a:lnSpc>
                <a:spcPts val="4759"/>
              </a:lnSpc>
            </a:pPr>
            <a:r>
              <a:rPr lang="en-US" sz="3399" dirty="0">
                <a:solidFill>
                  <a:srgbClr val="FFFFFF"/>
                </a:solidFill>
                <a:latin typeface="Canva Sans"/>
                <a:ea typeface="Canva Sans"/>
                <a:cs typeface="Canva Sans"/>
                <a:sym typeface="Canva Sans"/>
              </a:rPr>
              <a:t>·I Learned basic Nmap scanning techniques for host and service discovery </a:t>
            </a:r>
          </a:p>
          <a:p>
            <a:pPr algn="l">
              <a:lnSpc>
                <a:spcPts val="4759"/>
              </a:lnSpc>
            </a:pPr>
            <a:endParaRPr lang="en-US" sz="3399" dirty="0">
              <a:solidFill>
                <a:srgbClr val="FFFFFF"/>
              </a:solidFill>
              <a:latin typeface="Canva Sans"/>
              <a:ea typeface="Canva Sans"/>
              <a:cs typeface="Canva Sans"/>
              <a:sym typeface="Canva Sans"/>
            </a:endParaRPr>
          </a:p>
          <a:p>
            <a:pPr algn="l">
              <a:lnSpc>
                <a:spcPts val="4759"/>
              </a:lnSpc>
            </a:pPr>
            <a:r>
              <a:rPr lang="en-US" sz="3399" dirty="0">
                <a:solidFill>
                  <a:srgbClr val="FFFFFF"/>
                </a:solidFill>
                <a:latin typeface="Canva Sans"/>
                <a:ea typeface="Canva Sans"/>
                <a:cs typeface="Canva Sans"/>
                <a:sym typeface="Canva Sans"/>
              </a:rPr>
              <a:t>·I Identified web-server misconfigurations using </a:t>
            </a:r>
            <a:r>
              <a:rPr lang="en-US" sz="3399" dirty="0" err="1">
                <a:solidFill>
                  <a:srgbClr val="FFFFFF"/>
                </a:solidFill>
                <a:latin typeface="Canva Sans"/>
                <a:ea typeface="Canva Sans"/>
                <a:cs typeface="Canva Sans"/>
                <a:sym typeface="Canva Sans"/>
              </a:rPr>
              <a:t>Nikto</a:t>
            </a:r>
            <a:r>
              <a:rPr lang="en-US" sz="3399" dirty="0">
                <a:solidFill>
                  <a:srgbClr val="FFFFFF"/>
                </a:solidFill>
                <a:latin typeface="Canva Sans"/>
                <a:ea typeface="Canva Sans"/>
                <a:cs typeface="Canva Sans"/>
                <a:sym typeface="Canva Sans"/>
              </a:rPr>
              <a:t> </a:t>
            </a:r>
          </a:p>
          <a:p>
            <a:pPr algn="l">
              <a:lnSpc>
                <a:spcPts val="4759"/>
              </a:lnSpc>
            </a:pPr>
            <a:endParaRPr lang="en-US" sz="3399" dirty="0">
              <a:solidFill>
                <a:srgbClr val="FFFFFF"/>
              </a:solidFill>
              <a:latin typeface="Canva Sans"/>
              <a:ea typeface="Canva Sans"/>
              <a:cs typeface="Canva Sans"/>
              <a:sym typeface="Canva Sans"/>
            </a:endParaRPr>
          </a:p>
          <a:p>
            <a:pPr marL="457200" indent="-457200" algn="l">
              <a:lnSpc>
                <a:spcPts val="4759"/>
              </a:lnSpc>
              <a:buFont typeface="Arial" panose="020B0604020202020204" pitchFamily="34" charset="0"/>
              <a:buChar char="•"/>
            </a:pPr>
            <a:r>
              <a:rPr lang="en-US" sz="3399" dirty="0">
                <a:solidFill>
                  <a:srgbClr val="FFFFFF"/>
                </a:solidFill>
                <a:latin typeface="Canva Sans"/>
                <a:ea typeface="Canva Sans"/>
                <a:cs typeface="Canva Sans"/>
                <a:sym typeface="Canva Sans"/>
              </a:rPr>
              <a:t>Captured and analyzed HTTP requests using Burp Suite</a:t>
            </a:r>
          </a:p>
          <a:p>
            <a:pPr algn="l">
              <a:lnSpc>
                <a:spcPts val="4759"/>
              </a:lnSpc>
            </a:pPr>
            <a:endParaRPr lang="en-US" sz="3399" dirty="0">
              <a:solidFill>
                <a:srgbClr val="FFFFFF"/>
              </a:solidFill>
              <a:latin typeface="Canva Sans"/>
              <a:ea typeface="Canva Sans"/>
              <a:cs typeface="Canva Sans"/>
              <a:sym typeface="Canva Sans"/>
            </a:endParaRPr>
          </a:p>
          <a:p>
            <a:pPr marL="457200" indent="-457200" algn="l">
              <a:lnSpc>
                <a:spcPts val="4759"/>
              </a:lnSpc>
              <a:buFont typeface="Arial" panose="020B0604020202020204" pitchFamily="34" charset="0"/>
              <a:buChar char="•"/>
            </a:pPr>
            <a:r>
              <a:rPr lang="en-US" sz="3399" dirty="0">
                <a:solidFill>
                  <a:srgbClr val="FFFFFF"/>
                </a:solidFill>
                <a:latin typeface="Canva Sans"/>
                <a:ea typeface="Canva Sans"/>
                <a:cs typeface="Canva Sans"/>
                <a:sym typeface="Canva Sans"/>
              </a:rPr>
              <a:t> Understood ports, services and HTTP methods</a:t>
            </a:r>
          </a:p>
          <a:p>
            <a:pPr algn="l">
              <a:lnSpc>
                <a:spcPts val="4759"/>
              </a:lnSpc>
            </a:pPr>
            <a:endParaRPr lang="en-US" sz="3399" dirty="0">
              <a:solidFill>
                <a:srgbClr val="FFFFFF"/>
              </a:solidFill>
              <a:latin typeface="Canva Sans"/>
              <a:ea typeface="Canva Sans"/>
              <a:cs typeface="Canva Sans"/>
              <a:sym typeface="Canva Sans"/>
            </a:endParaRPr>
          </a:p>
          <a:p>
            <a:pPr algn="l">
              <a:lnSpc>
                <a:spcPts val="4759"/>
              </a:lnSpc>
            </a:pPr>
            <a:r>
              <a:rPr lang="en-US" sz="3399" dirty="0">
                <a:solidFill>
                  <a:srgbClr val="FFFFFF"/>
                </a:solidFill>
                <a:latin typeface="Canva Sans"/>
                <a:ea typeface="Canva Sans"/>
                <a:cs typeface="Canva Sans"/>
                <a:sym typeface="Canva Sans"/>
              </a:rPr>
              <a:t>· I Learned to interpret results rather than only running commands </a:t>
            </a:r>
          </a:p>
          <a:p>
            <a:pPr algn="l">
              <a:lnSpc>
                <a:spcPts val="4759"/>
              </a:lnSpc>
            </a:pPr>
            <a:endParaRPr lang="en-US" sz="3399" dirty="0">
              <a:solidFill>
                <a:srgbClr val="FFFFFF"/>
              </a:solidFill>
              <a:latin typeface="Canva Sans"/>
              <a:ea typeface="Canva Sans"/>
              <a:cs typeface="Canva Sans"/>
              <a:sym typeface="Canva Sans"/>
            </a:endParaRPr>
          </a:p>
          <a:p>
            <a:pPr algn="l">
              <a:lnSpc>
                <a:spcPts val="4759"/>
              </a:lnSpc>
            </a:pPr>
            <a:r>
              <a:rPr lang="en-US" sz="3399" dirty="0">
                <a:solidFill>
                  <a:srgbClr val="FFFFFF"/>
                </a:solidFill>
                <a:latin typeface="Canva Sans"/>
                <a:ea typeface="Canva Sans"/>
                <a:cs typeface="Canva Sans"/>
                <a:sym typeface="Canva Sans"/>
              </a:rPr>
              <a:t>·Understood the importance of authorization and ethical testing</a:t>
            </a:r>
          </a:p>
          <a:p>
            <a:pPr algn="l">
              <a:lnSpc>
                <a:spcPts val="4759"/>
              </a:lnSpc>
            </a:pPr>
            <a:endParaRPr lang="en-US" sz="3399" dirty="0">
              <a:solidFill>
                <a:srgbClr val="FFFFFF"/>
              </a:solidFill>
              <a:latin typeface="Canva Sans"/>
              <a:ea typeface="Canva Sans"/>
              <a:cs typeface="Canva Sans"/>
              <a:sym typeface="Canva Sans"/>
            </a:endParaRPr>
          </a:p>
        </p:txBody>
      </p:sp>
      <p:sp>
        <p:nvSpPr>
          <p:cNvPr id="3" name="TextBox 3"/>
          <p:cNvSpPr txBox="1"/>
          <p:nvPr/>
        </p:nvSpPr>
        <p:spPr>
          <a:xfrm>
            <a:off x="333160" y="470852"/>
            <a:ext cx="7134440" cy="1344932"/>
          </a:xfrm>
          <a:prstGeom prst="rect">
            <a:avLst/>
          </a:prstGeom>
        </p:spPr>
        <p:txBody>
          <a:bodyPr wrap="square" lIns="0" tIns="0" rIns="0" bIns="0" rtlCol="0" anchor="t">
            <a:spAutoFit/>
          </a:bodyPr>
          <a:lstStyle/>
          <a:p>
            <a:pPr algn="ctr">
              <a:lnSpc>
                <a:spcPts val="10919"/>
              </a:lnSpc>
            </a:pPr>
            <a:r>
              <a:rPr lang="en-US" sz="7799" b="1" dirty="0">
                <a:solidFill>
                  <a:srgbClr val="00E8FF"/>
                </a:solidFill>
                <a:latin typeface="TT Supermolot Neue Bold"/>
                <a:ea typeface="TT Supermolot Neue Bold"/>
                <a:cs typeface="TT Supermolot Neue Bold"/>
                <a:sym typeface="TT Supermolot Neue Bold"/>
              </a:rPr>
              <a:t>CONCLUSION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1633"/>
        </a:solidFill>
        <a:effectLst/>
      </p:bgPr>
    </p:bg>
    <p:spTree>
      <p:nvGrpSpPr>
        <p:cNvPr id="1" name=""/>
        <p:cNvGrpSpPr/>
        <p:nvPr/>
      </p:nvGrpSpPr>
      <p:grpSpPr>
        <a:xfrm>
          <a:off x="0" y="0"/>
          <a:ext cx="0" cy="0"/>
          <a:chOff x="0" y="0"/>
          <a:chExt cx="0" cy="0"/>
        </a:xfrm>
      </p:grpSpPr>
      <p:sp>
        <p:nvSpPr>
          <p:cNvPr id="2" name="TextBox 2"/>
          <p:cNvSpPr txBox="1"/>
          <p:nvPr/>
        </p:nvSpPr>
        <p:spPr>
          <a:xfrm>
            <a:off x="6151602" y="4604702"/>
            <a:ext cx="7335798" cy="1358903"/>
          </a:xfrm>
          <a:prstGeom prst="rect">
            <a:avLst/>
          </a:prstGeom>
        </p:spPr>
        <p:txBody>
          <a:bodyPr wrap="square" lIns="0" tIns="0" rIns="0" bIns="0" rtlCol="0" anchor="t">
            <a:spAutoFit/>
          </a:bodyPr>
          <a:lstStyle/>
          <a:p>
            <a:pPr algn="ctr">
              <a:lnSpc>
                <a:spcPts val="11199"/>
              </a:lnSpc>
            </a:pPr>
            <a:r>
              <a:rPr lang="en-US" sz="7999" b="1" dirty="0">
                <a:solidFill>
                  <a:srgbClr val="FFFFFF"/>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646</Words>
  <Application>Microsoft Office PowerPoint</Application>
  <PresentationFormat>Custom</PresentationFormat>
  <Paragraphs>44</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Canva Sans</vt:lpstr>
      <vt:lpstr>Canva Sans Bold</vt:lpstr>
      <vt:lpstr>Calibri</vt:lpstr>
      <vt:lpstr>TT Supermolot Neue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- 5 VAPT TOOLS</dc:title>
  <cp:lastModifiedBy>Sai Amulya</cp:lastModifiedBy>
  <cp:revision>6</cp:revision>
  <dcterms:created xsi:type="dcterms:W3CDTF">2006-08-16T00:00:00Z</dcterms:created>
  <dcterms:modified xsi:type="dcterms:W3CDTF">2026-10-06T13:30:47Z</dcterms:modified>
  <dc:identifier>DAHW2vSeAPM</dc:identifier>
</cp:coreProperties>
</file>